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_rels/presentation.xml.rels" ContentType="application/vnd.openxmlformats-package.relationships+xml"/>
  <Override PartName="/ppt/media/image13.png" ContentType="image/png"/>
  <Override PartName="/ppt/media/image4.png" ContentType="image/png"/>
  <Override PartName="/ppt/media/image9.png" ContentType="image/png"/>
  <Override PartName="/ppt/media/image18.png" ContentType="image/png"/>
  <Override PartName="/ppt/media/image20.png" ContentType="image/png"/>
  <Override PartName="/ppt/media/image12.png" ContentType="image/png"/>
  <Override PartName="/ppt/media/image3.png" ContentType="image/png"/>
  <Override PartName="/ppt/media/image21.png" ContentType="image/png"/>
  <Override PartName="/ppt/media/image19.png" ContentType="image/png"/>
  <Override PartName="/ppt/media/image5.png" ContentType="image/png"/>
  <Override PartName="/ppt/media/image14.png" ContentType="image/png"/>
  <Override PartName="/ppt/media/image15.png" ContentType="image/png"/>
  <Override PartName="/ppt/media/image6.png" ContentType="image/png"/>
  <Override PartName="/ppt/media/image10.png" ContentType="image/png"/>
  <Override PartName="/ppt/media/image1.png" ContentType="image/png"/>
  <Override PartName="/ppt/media/image16.png" ContentType="image/png"/>
  <Override PartName="/ppt/media/image7.png" ContentType="image/png"/>
  <Override PartName="/ppt/media/image2.png" ContentType="image/png"/>
  <Override PartName="/ppt/media/image11.png" ContentType="image/png"/>
  <Override PartName="/ppt/media/image8.png" ContentType="image/png"/>
  <Override PartName="/ppt/media/image17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419040"/>
            <a:ext cx="9070920" cy="559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ffffff"/>
              </a:solidFill>
              <a:effectLst/>
              <a:uFillTx/>
              <a:latin typeface="Nimbus Roman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ffffff"/>
              </a:solidFill>
              <a:effectLst/>
              <a:uFillTx/>
              <a:latin typeface="Nimbus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5B7FCA4-6CB4-44C6-9AC9-00E6A85D77D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GB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561600"/>
            <a:ext cx="90709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Nimbus Roman"/>
              </a:rPr>
              <a:t>Click to edit the title text format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Nimbus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0920" cy="328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Nimbus Roman"/>
              </a:rPr>
              <a:t>Click to edit the outline text format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Nimbus Roman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Nimbus Roman"/>
              </a:rPr>
              <a:t>Second Outline Level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Nimbus Roman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Nimbus Roman"/>
              </a:rPr>
              <a:t>Third Outline Level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Nimbus Roman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Nimbus Roman"/>
              </a:rPr>
              <a:t>Fourth Outline Level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Nimbus Roman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Nimbus Roman"/>
              </a:rPr>
              <a:t>Fifth Outline Level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Nimbus Roman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Nimbus Roman"/>
              </a:rPr>
              <a:t>Sixth Outline Level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Nimbus Roman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ffffff"/>
                </a:solidFill>
                <a:effectLst/>
                <a:uFillTx/>
                <a:latin typeface="Nimbus Roman"/>
              </a:rPr>
              <a:t>Seventh Outline Level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Nimbus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428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ffffff"/>
                </a:solidFill>
                <a:effectLst/>
                <a:uFillTx/>
                <a:latin typeface="Nimbus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Nimbus Roman"/>
              </a:rPr>
              <a:t>&lt;footer&gt;</a:t>
            </a:r>
            <a:endParaRPr b="0" lang="ru-RU" sz="1400" strike="noStrike" u="none">
              <a:solidFill>
                <a:srgbClr val="ffffff"/>
              </a:solidFill>
              <a:effectLst/>
              <a:uFillTx/>
              <a:latin typeface="Nimbus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ffffff"/>
                </a:solidFill>
                <a:effectLst/>
                <a:uFillTx/>
                <a:latin typeface="Nimbus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52DA519-6993-4312-99B3-5DE13B241C12}" type="slidenum"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Nimbus Roman"/>
              </a:rPr>
              <a:t>&lt;number&gt;</a:t>
            </a:fld>
            <a:endParaRPr b="0" lang="ru-RU" sz="1400" strike="noStrike" u="none">
              <a:solidFill>
                <a:srgbClr val="ffffff"/>
              </a:solidFill>
              <a:effectLst/>
              <a:uFillTx/>
              <a:latin typeface="Nimbus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560" cy="389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ffffff"/>
                </a:solidFill>
                <a:effectLst/>
                <a:uFillTx/>
                <a:latin typeface="Nimbus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ffffff"/>
                </a:solidFill>
                <a:effectLst/>
                <a:uFillTx/>
                <a:latin typeface="Nimbus Roman"/>
              </a:rPr>
              <a:t>&lt;date/time&gt;</a:t>
            </a:r>
            <a:endParaRPr b="0" lang="ru-RU" sz="1400" strike="noStrike" u="none">
              <a:solidFill>
                <a:srgbClr val="ffffff"/>
              </a:solidFill>
              <a:effectLst/>
              <a:uFillTx/>
              <a:latin typeface="Nimbus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png"/><Relationship Id="rId3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20.png"/><Relationship Id="rId3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"/>
          <p:cNvSpPr/>
          <p:nvPr/>
        </p:nvSpPr>
        <p:spPr>
          <a:xfrm>
            <a:off x="2943360" y="2562840"/>
            <a:ext cx="4194000" cy="97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marL="216000" indent="-216000">
              <a:lnSpc>
                <a:spcPct val="100000"/>
              </a:lnSpc>
              <a:buClr>
                <a:srgbClr val="ffdd33"/>
              </a:buClr>
              <a:buFont typeface="Symbol" charset="2"/>
              <a:buChar char=""/>
            </a:pPr>
            <a:r>
              <a:rPr b="0" lang="ru-RU" sz="3200" strike="noStrike" u="none">
                <a:solidFill>
                  <a:srgbClr val="eeeeee"/>
                </a:solidFill>
                <a:effectLst/>
                <a:uFillTx/>
                <a:latin typeface="Times New Roman"/>
                <a:ea typeface="DejaVu Sans"/>
              </a:rPr>
              <a:t>DB Browser for SQLite</a:t>
            </a:r>
            <a:endParaRPr b="0" lang="ru-RU" sz="3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  <a:p>
            <a:pPr marL="216000" indent="-216000">
              <a:lnSpc>
                <a:spcPct val="100000"/>
              </a:lnSpc>
              <a:buClr>
                <a:srgbClr val="ffdd33"/>
              </a:buClr>
              <a:buFont typeface="Symbol" charset="2"/>
              <a:buChar char=""/>
            </a:pPr>
            <a:r>
              <a:rPr b="0" lang="ru-RU" sz="3200" strike="noStrike" u="none">
                <a:solidFill>
                  <a:srgbClr val="eeeeee"/>
                </a:solidFill>
                <a:effectLst/>
                <a:uFillTx/>
                <a:latin typeface="Times New Roman"/>
                <a:ea typeface="DejaVu Sans"/>
              </a:rPr>
              <a:t>SQLiteStudio</a:t>
            </a:r>
            <a:endParaRPr b="0" lang="ru-RU" sz="3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"/>
          <p:cNvSpPr/>
          <p:nvPr/>
        </p:nvSpPr>
        <p:spPr>
          <a:xfrm>
            <a:off x="3435120" y="97560"/>
            <a:ext cx="3212640" cy="639000"/>
          </a:xfrm>
          <a:prstGeom prst="rect">
            <a:avLst/>
          </a:prstGeom>
          <a:noFill/>
          <a:ln w="7308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eeeeee"/>
                </a:solidFill>
                <a:effectLst/>
                <a:uFillTx/>
                <a:latin typeface="Times New Roman"/>
              </a:rPr>
              <a:t>GUI для SQLite</a:t>
            </a:r>
            <a:endParaRPr b="0" lang="ru-RU" sz="36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"/>
          <p:cNvSpPr/>
          <p:nvPr/>
        </p:nvSpPr>
        <p:spPr>
          <a:xfrm>
            <a:off x="847440" y="97560"/>
            <a:ext cx="8388360" cy="639000"/>
          </a:xfrm>
          <a:prstGeom prst="rect">
            <a:avLst/>
          </a:prstGeom>
          <a:noFill/>
          <a:ln w="7308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eeeeee"/>
                </a:solidFill>
                <a:effectLst/>
                <a:uFillTx/>
                <a:latin typeface="Times New Roman"/>
              </a:rPr>
              <a:t>DB Browser for SQLite: подключение к БД</a:t>
            </a:r>
            <a:endParaRPr b="0" lang="ru-RU" sz="36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6298560" y="1104840"/>
            <a:ext cx="204624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3200" strike="noStrike" u="none">
                <a:solidFill>
                  <a:srgbClr val="eeeeee"/>
                </a:solidFill>
                <a:effectLst/>
                <a:uFillTx/>
                <a:latin typeface="Times New Roman"/>
              </a:rPr>
              <a:t>русский</a:t>
            </a:r>
            <a:endParaRPr b="0" lang="ru-RU" sz="3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"/>
          <p:cNvSpPr/>
          <p:nvPr/>
        </p:nvSpPr>
        <p:spPr>
          <a:xfrm>
            <a:off x="1267560" y="1331640"/>
            <a:ext cx="292428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ru-RU" sz="3200" strike="noStrike" u="none">
                <a:solidFill>
                  <a:srgbClr val="eeeeee"/>
                </a:solidFill>
                <a:effectLst/>
                <a:uFillTx/>
                <a:latin typeface="Times New Roman"/>
                <a:ea typeface="DejaVu Sans"/>
              </a:rPr>
              <a:t>английский</a:t>
            </a:r>
            <a:endParaRPr b="0" lang="ru-RU" sz="3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12" name=""/>
          <p:cNvGrpSpPr/>
          <p:nvPr/>
        </p:nvGrpSpPr>
        <p:grpSpPr>
          <a:xfrm>
            <a:off x="914400" y="2919960"/>
            <a:ext cx="3644640" cy="1108800"/>
            <a:chOff x="914400" y="2919960"/>
            <a:chExt cx="3644640" cy="1108800"/>
          </a:xfrm>
        </p:grpSpPr>
        <p:pic>
          <p:nvPicPr>
            <p:cNvPr id="13" name="" descr=""/>
            <p:cNvPicPr/>
            <p:nvPr/>
          </p:nvPicPr>
          <p:blipFill>
            <a:blip r:embed="rId1"/>
            <a:stretch/>
          </p:blipFill>
          <p:spPr>
            <a:xfrm>
              <a:off x="914400" y="2919960"/>
              <a:ext cx="3644640" cy="1108800"/>
            </a:xfrm>
            <a:prstGeom prst="rect">
              <a:avLst/>
            </a:prstGeom>
            <a:noFill/>
            <a:ln w="73080">
              <a:noFill/>
            </a:ln>
          </p:spPr>
        </p:pic>
        <p:sp>
          <p:nvSpPr>
            <p:cNvPr id="14" name=""/>
            <p:cNvSpPr/>
            <p:nvPr/>
          </p:nvSpPr>
          <p:spPr>
            <a:xfrm>
              <a:off x="1008000" y="3113640"/>
              <a:ext cx="816840" cy="216720"/>
            </a:xfrm>
            <a:prstGeom prst="rect">
              <a:avLst/>
            </a:prstGeom>
            <a:noFill/>
            <a:ln w="73080">
              <a:solidFill>
                <a:srgbClr val="ffdd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Noto Serif"/>
                <a:ea typeface="DejaVu Sans"/>
              </a:endParaRPr>
            </a:p>
          </p:txBody>
        </p:sp>
        <p:sp>
          <p:nvSpPr>
            <p:cNvPr id="15" name=""/>
            <p:cNvSpPr/>
            <p:nvPr/>
          </p:nvSpPr>
          <p:spPr>
            <a:xfrm>
              <a:off x="1836000" y="3113640"/>
              <a:ext cx="1009080" cy="216720"/>
            </a:xfrm>
            <a:prstGeom prst="rect">
              <a:avLst/>
            </a:prstGeom>
            <a:noFill/>
            <a:ln w="73080">
              <a:solidFill>
                <a:srgbClr val="ffdd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Noto Serif"/>
                <a:ea typeface="DejaVu Sans"/>
              </a:endParaRPr>
            </a:p>
          </p:txBody>
        </p:sp>
      </p:grpSp>
      <p:grpSp>
        <p:nvGrpSpPr>
          <p:cNvPr id="16" name=""/>
          <p:cNvGrpSpPr/>
          <p:nvPr/>
        </p:nvGrpSpPr>
        <p:grpSpPr>
          <a:xfrm>
            <a:off x="5522040" y="2949120"/>
            <a:ext cx="3598920" cy="1050480"/>
            <a:chOff x="5522040" y="2949120"/>
            <a:chExt cx="3598920" cy="1050480"/>
          </a:xfrm>
        </p:grpSpPr>
        <p:pic>
          <p:nvPicPr>
            <p:cNvPr id="17" name="" descr=""/>
            <p:cNvPicPr/>
            <p:nvPr/>
          </p:nvPicPr>
          <p:blipFill>
            <a:blip r:embed="rId2"/>
            <a:stretch/>
          </p:blipFill>
          <p:spPr>
            <a:xfrm>
              <a:off x="5522040" y="2949120"/>
              <a:ext cx="3598920" cy="1050480"/>
            </a:xfrm>
            <a:prstGeom prst="rect">
              <a:avLst/>
            </a:prstGeom>
            <a:noFill/>
            <a:ln w="73080">
              <a:noFill/>
            </a:ln>
          </p:spPr>
        </p:pic>
        <p:sp>
          <p:nvSpPr>
            <p:cNvPr id="18" name=""/>
            <p:cNvSpPr/>
            <p:nvPr/>
          </p:nvSpPr>
          <p:spPr>
            <a:xfrm>
              <a:off x="5588640" y="3113640"/>
              <a:ext cx="816840" cy="216720"/>
            </a:xfrm>
            <a:prstGeom prst="rect">
              <a:avLst/>
            </a:prstGeom>
            <a:noFill/>
            <a:ln w="73080">
              <a:solidFill>
                <a:srgbClr val="ffdd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Noto Serif"/>
                <a:ea typeface="DejaVu Sans"/>
              </a:endParaRPr>
            </a:p>
          </p:txBody>
        </p:sp>
        <p:sp>
          <p:nvSpPr>
            <p:cNvPr id="19" name=""/>
            <p:cNvSpPr/>
            <p:nvPr/>
          </p:nvSpPr>
          <p:spPr>
            <a:xfrm>
              <a:off x="6416640" y="3113640"/>
              <a:ext cx="1009080" cy="216720"/>
            </a:xfrm>
            <a:prstGeom prst="rect">
              <a:avLst/>
            </a:prstGeom>
            <a:noFill/>
            <a:ln w="73080">
              <a:solidFill>
                <a:srgbClr val="ffdd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Noto Serif"/>
                <a:ea typeface="DejaVu Sans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6298560" y="1104840"/>
            <a:ext cx="204624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3200" strike="noStrike" u="none">
                <a:solidFill>
                  <a:srgbClr val="eeeeee"/>
                </a:solidFill>
                <a:effectLst/>
                <a:uFillTx/>
                <a:latin typeface="Times New Roman"/>
              </a:rPr>
              <a:t>русский</a:t>
            </a:r>
            <a:endParaRPr b="0" lang="ru-RU" sz="3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"/>
          <p:cNvSpPr/>
          <p:nvPr/>
        </p:nvSpPr>
        <p:spPr>
          <a:xfrm>
            <a:off x="1267560" y="1331640"/>
            <a:ext cx="292428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ru-RU" sz="3200" strike="noStrike" u="none">
                <a:solidFill>
                  <a:srgbClr val="eeeeee"/>
                </a:solidFill>
                <a:effectLst/>
                <a:uFillTx/>
                <a:latin typeface="Times New Roman"/>
                <a:ea typeface="DejaVu Sans"/>
              </a:rPr>
              <a:t>английский</a:t>
            </a:r>
            <a:endParaRPr b="0" lang="ru-RU" sz="3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"/>
          <p:cNvSpPr/>
          <p:nvPr/>
        </p:nvSpPr>
        <p:spPr>
          <a:xfrm>
            <a:off x="911880" y="97920"/>
            <a:ext cx="8260560" cy="639000"/>
          </a:xfrm>
          <a:prstGeom prst="rect">
            <a:avLst/>
          </a:prstGeom>
          <a:noFill/>
          <a:ln w="7308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eeeeee"/>
                </a:solidFill>
                <a:effectLst/>
                <a:uFillTx/>
                <a:latin typeface="Times New Roman"/>
              </a:rPr>
              <a:t>DB Browser for SQLite: создание таблицы</a:t>
            </a:r>
            <a:endParaRPr b="0" lang="ru-RU" sz="36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23" name=""/>
          <p:cNvGrpSpPr/>
          <p:nvPr/>
        </p:nvGrpSpPr>
        <p:grpSpPr>
          <a:xfrm>
            <a:off x="667800" y="2743200"/>
            <a:ext cx="4132440" cy="1965960"/>
            <a:chOff x="667800" y="2743200"/>
            <a:chExt cx="4132440" cy="1965960"/>
          </a:xfrm>
        </p:grpSpPr>
        <p:pic>
          <p:nvPicPr>
            <p:cNvPr id="24" name="" descr=""/>
            <p:cNvPicPr/>
            <p:nvPr/>
          </p:nvPicPr>
          <p:blipFill>
            <a:blip r:embed="rId1"/>
            <a:stretch/>
          </p:blipFill>
          <p:spPr>
            <a:xfrm>
              <a:off x="667800" y="2743200"/>
              <a:ext cx="4132440" cy="1965960"/>
            </a:xfrm>
            <a:prstGeom prst="rect">
              <a:avLst/>
            </a:prstGeom>
            <a:noFill/>
            <a:ln w="73080">
              <a:noFill/>
            </a:ln>
          </p:spPr>
        </p:pic>
        <p:sp>
          <p:nvSpPr>
            <p:cNvPr id="25" name=""/>
            <p:cNvSpPr/>
            <p:nvPr/>
          </p:nvSpPr>
          <p:spPr>
            <a:xfrm>
              <a:off x="724680" y="3499200"/>
              <a:ext cx="963360" cy="288720"/>
            </a:xfrm>
            <a:prstGeom prst="rect">
              <a:avLst/>
            </a:prstGeom>
            <a:noFill/>
            <a:ln w="73080">
              <a:solidFill>
                <a:srgbClr val="ffdd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Noto Serif"/>
                <a:ea typeface="DejaVu Sans"/>
              </a:endParaRPr>
            </a:p>
          </p:txBody>
        </p:sp>
      </p:grpSp>
      <p:grpSp>
        <p:nvGrpSpPr>
          <p:cNvPr id="26" name=""/>
          <p:cNvGrpSpPr/>
          <p:nvPr/>
        </p:nvGrpSpPr>
        <p:grpSpPr>
          <a:xfrm>
            <a:off x="5257800" y="2750760"/>
            <a:ext cx="4223880" cy="1951200"/>
            <a:chOff x="5257800" y="2750760"/>
            <a:chExt cx="4223880" cy="1951200"/>
          </a:xfrm>
        </p:grpSpPr>
        <p:pic>
          <p:nvPicPr>
            <p:cNvPr id="27" name="" descr=""/>
            <p:cNvPicPr/>
            <p:nvPr/>
          </p:nvPicPr>
          <p:blipFill>
            <a:blip r:embed="rId2"/>
            <a:stretch/>
          </p:blipFill>
          <p:spPr>
            <a:xfrm>
              <a:off x="5257800" y="2750760"/>
              <a:ext cx="4223880" cy="1951200"/>
            </a:xfrm>
            <a:prstGeom prst="rect">
              <a:avLst/>
            </a:prstGeom>
            <a:noFill/>
            <a:ln w="73080">
              <a:noFill/>
            </a:ln>
          </p:spPr>
        </p:pic>
        <p:sp>
          <p:nvSpPr>
            <p:cNvPr id="28" name=""/>
            <p:cNvSpPr/>
            <p:nvPr/>
          </p:nvSpPr>
          <p:spPr>
            <a:xfrm>
              <a:off x="5313960" y="3486240"/>
              <a:ext cx="1218960" cy="288720"/>
            </a:xfrm>
            <a:prstGeom prst="rect">
              <a:avLst/>
            </a:prstGeom>
            <a:noFill/>
            <a:ln w="73080">
              <a:solidFill>
                <a:srgbClr val="ffdd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Noto Serif"/>
                <a:ea typeface="DejaVu Sans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298560" y="1104840"/>
            <a:ext cx="204624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3200" strike="noStrike" u="none">
                <a:solidFill>
                  <a:srgbClr val="eeeeee"/>
                </a:solidFill>
                <a:effectLst/>
                <a:uFillTx/>
                <a:latin typeface="Times New Roman"/>
              </a:rPr>
              <a:t>русский</a:t>
            </a:r>
            <a:endParaRPr b="0" lang="ru-RU" sz="3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"/>
          <p:cNvSpPr/>
          <p:nvPr/>
        </p:nvSpPr>
        <p:spPr>
          <a:xfrm>
            <a:off x="1267560" y="1331640"/>
            <a:ext cx="292428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ru-RU" sz="3200" strike="noStrike" u="none">
                <a:solidFill>
                  <a:srgbClr val="eeeeee"/>
                </a:solidFill>
                <a:effectLst/>
                <a:uFillTx/>
                <a:latin typeface="Times New Roman"/>
                <a:ea typeface="DejaVu Sans"/>
              </a:rPr>
              <a:t>английский</a:t>
            </a:r>
            <a:endParaRPr b="0" lang="ru-RU" sz="3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"/>
          <p:cNvSpPr/>
          <p:nvPr/>
        </p:nvSpPr>
        <p:spPr>
          <a:xfrm>
            <a:off x="975960" y="98280"/>
            <a:ext cx="8132760" cy="639000"/>
          </a:xfrm>
          <a:prstGeom prst="rect">
            <a:avLst/>
          </a:prstGeom>
          <a:noFill/>
          <a:ln w="7308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eeeeee"/>
                </a:solidFill>
                <a:effectLst/>
                <a:uFillTx/>
                <a:latin typeface="Times New Roman"/>
              </a:rPr>
              <a:t>DB Browser for SQLite: создание столбца</a:t>
            </a:r>
            <a:endParaRPr b="0" lang="ru-RU" sz="36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32" name=""/>
          <p:cNvGrpSpPr/>
          <p:nvPr/>
        </p:nvGrpSpPr>
        <p:grpSpPr>
          <a:xfrm>
            <a:off x="457200" y="2030400"/>
            <a:ext cx="4342680" cy="3409560"/>
            <a:chOff x="457200" y="2030400"/>
            <a:chExt cx="4342680" cy="3409560"/>
          </a:xfrm>
        </p:grpSpPr>
        <p:pic>
          <p:nvPicPr>
            <p:cNvPr id="33" name="" descr=""/>
            <p:cNvPicPr/>
            <p:nvPr/>
          </p:nvPicPr>
          <p:blipFill>
            <a:blip r:embed="rId1"/>
            <a:stretch/>
          </p:blipFill>
          <p:spPr>
            <a:xfrm>
              <a:off x="457200" y="2030400"/>
              <a:ext cx="4342680" cy="3409560"/>
            </a:xfrm>
            <a:prstGeom prst="rect">
              <a:avLst/>
            </a:prstGeom>
            <a:noFill/>
            <a:ln w="73080">
              <a:noFill/>
            </a:ln>
          </p:spPr>
        </p:pic>
        <p:sp>
          <p:nvSpPr>
            <p:cNvPr id="34" name=""/>
            <p:cNvSpPr/>
            <p:nvPr/>
          </p:nvSpPr>
          <p:spPr>
            <a:xfrm>
              <a:off x="518760" y="2365920"/>
              <a:ext cx="937800" cy="238680"/>
            </a:xfrm>
            <a:prstGeom prst="rect">
              <a:avLst/>
            </a:prstGeom>
            <a:noFill/>
            <a:ln w="73080">
              <a:solidFill>
                <a:srgbClr val="ffdd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Noto Serif"/>
                <a:ea typeface="DejaVu Sans"/>
              </a:endParaRPr>
            </a:p>
          </p:txBody>
        </p:sp>
        <p:sp>
          <p:nvSpPr>
            <p:cNvPr id="35" name=""/>
            <p:cNvSpPr/>
            <p:nvPr/>
          </p:nvSpPr>
          <p:spPr>
            <a:xfrm>
              <a:off x="518760" y="2977920"/>
              <a:ext cx="405000" cy="216000"/>
            </a:xfrm>
            <a:prstGeom prst="rect">
              <a:avLst/>
            </a:prstGeom>
            <a:noFill/>
            <a:ln w="73080">
              <a:solidFill>
                <a:srgbClr val="ffdd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Noto Serif"/>
                <a:ea typeface="DejaVu Sans"/>
              </a:endParaRPr>
            </a:p>
          </p:txBody>
        </p:sp>
      </p:grpSp>
      <p:grpSp>
        <p:nvGrpSpPr>
          <p:cNvPr id="36" name=""/>
          <p:cNvGrpSpPr/>
          <p:nvPr/>
        </p:nvGrpSpPr>
        <p:grpSpPr>
          <a:xfrm>
            <a:off x="5257800" y="2057400"/>
            <a:ext cx="4315320" cy="3382560"/>
            <a:chOff x="5257800" y="2057400"/>
            <a:chExt cx="4315320" cy="3382560"/>
          </a:xfrm>
        </p:grpSpPr>
        <p:pic>
          <p:nvPicPr>
            <p:cNvPr id="37" name="" descr=""/>
            <p:cNvPicPr/>
            <p:nvPr/>
          </p:nvPicPr>
          <p:blipFill>
            <a:blip r:embed="rId2"/>
            <a:stretch/>
          </p:blipFill>
          <p:spPr>
            <a:xfrm>
              <a:off x="5257800" y="2057400"/>
              <a:ext cx="4315320" cy="3382560"/>
            </a:xfrm>
            <a:prstGeom prst="rect">
              <a:avLst/>
            </a:prstGeom>
            <a:noFill/>
            <a:ln w="73080">
              <a:noFill/>
            </a:ln>
          </p:spPr>
        </p:pic>
        <p:sp>
          <p:nvSpPr>
            <p:cNvPr id="38" name=""/>
            <p:cNvSpPr/>
            <p:nvPr/>
          </p:nvSpPr>
          <p:spPr>
            <a:xfrm>
              <a:off x="5326200" y="2378880"/>
              <a:ext cx="937800" cy="229320"/>
            </a:xfrm>
            <a:prstGeom prst="rect">
              <a:avLst/>
            </a:prstGeom>
            <a:noFill/>
            <a:ln w="73080">
              <a:solidFill>
                <a:srgbClr val="ffdd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Noto Serif"/>
                <a:ea typeface="DejaVu Sans"/>
              </a:endParaRPr>
            </a:p>
          </p:txBody>
        </p:sp>
        <p:sp>
          <p:nvSpPr>
            <p:cNvPr id="39" name=""/>
            <p:cNvSpPr/>
            <p:nvPr/>
          </p:nvSpPr>
          <p:spPr>
            <a:xfrm>
              <a:off x="5326200" y="2984040"/>
              <a:ext cx="392760" cy="216000"/>
            </a:xfrm>
            <a:prstGeom prst="rect">
              <a:avLst/>
            </a:prstGeom>
            <a:noFill/>
            <a:ln w="73080">
              <a:solidFill>
                <a:srgbClr val="ffdd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Noto Serif"/>
                <a:ea typeface="DejaVu Sans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"/>
          <p:cNvSpPr/>
          <p:nvPr/>
        </p:nvSpPr>
        <p:spPr>
          <a:xfrm>
            <a:off x="453960" y="97200"/>
            <a:ext cx="9174960" cy="638280"/>
          </a:xfrm>
          <a:prstGeom prst="rect">
            <a:avLst/>
          </a:prstGeom>
          <a:noFill/>
          <a:ln w="7308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eeeeee"/>
                </a:solidFill>
                <a:effectLst/>
                <a:uFillTx/>
                <a:latin typeface="Times New Roman"/>
              </a:rPr>
              <a:t>DB Browser for SQLite: сохранение изменений</a:t>
            </a:r>
            <a:endParaRPr b="0" lang="ru-RU" sz="36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6298560" y="1104840"/>
            <a:ext cx="204624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3200" strike="noStrike" u="none">
                <a:solidFill>
                  <a:srgbClr val="eeeeee"/>
                </a:solidFill>
                <a:effectLst/>
                <a:uFillTx/>
                <a:latin typeface="Times New Roman"/>
              </a:rPr>
              <a:t>русский</a:t>
            </a:r>
            <a:endParaRPr b="0" lang="ru-RU" sz="3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"/>
          <p:cNvSpPr/>
          <p:nvPr/>
        </p:nvSpPr>
        <p:spPr>
          <a:xfrm>
            <a:off x="1267560" y="1331640"/>
            <a:ext cx="292428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ru-RU" sz="3200" strike="noStrike" u="none">
                <a:solidFill>
                  <a:srgbClr val="eeeeee"/>
                </a:solidFill>
                <a:effectLst/>
                <a:uFillTx/>
                <a:latin typeface="Times New Roman"/>
                <a:ea typeface="DejaVu Sans"/>
              </a:rPr>
              <a:t>английский</a:t>
            </a:r>
            <a:endParaRPr b="0" lang="ru-RU" sz="3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43" name=""/>
          <p:cNvGrpSpPr/>
          <p:nvPr/>
        </p:nvGrpSpPr>
        <p:grpSpPr>
          <a:xfrm>
            <a:off x="5257800" y="2466000"/>
            <a:ext cx="4132440" cy="2176920"/>
            <a:chOff x="5257800" y="2466000"/>
            <a:chExt cx="4132440" cy="2176920"/>
          </a:xfrm>
        </p:grpSpPr>
        <p:pic>
          <p:nvPicPr>
            <p:cNvPr id="44" name="" descr=""/>
            <p:cNvPicPr/>
            <p:nvPr/>
          </p:nvPicPr>
          <p:blipFill>
            <a:blip r:embed="rId1"/>
            <a:stretch/>
          </p:blipFill>
          <p:spPr>
            <a:xfrm>
              <a:off x="5257800" y="2466000"/>
              <a:ext cx="4132440" cy="2176920"/>
            </a:xfrm>
            <a:prstGeom prst="rect">
              <a:avLst/>
            </a:prstGeom>
            <a:noFill/>
            <a:ln w="73080">
              <a:noFill/>
            </a:ln>
          </p:spPr>
        </p:pic>
        <p:sp>
          <p:nvSpPr>
            <p:cNvPr id="45" name=""/>
            <p:cNvSpPr/>
            <p:nvPr/>
          </p:nvSpPr>
          <p:spPr>
            <a:xfrm>
              <a:off x="7114680" y="2818440"/>
              <a:ext cx="1208520" cy="219240"/>
            </a:xfrm>
            <a:prstGeom prst="rect">
              <a:avLst/>
            </a:prstGeom>
            <a:noFill/>
            <a:ln w="73080">
              <a:solidFill>
                <a:srgbClr val="ffdd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Noto Serif"/>
                <a:ea typeface="DejaVu Sans"/>
              </a:endParaRPr>
            </a:p>
          </p:txBody>
        </p:sp>
      </p:grpSp>
      <p:grpSp>
        <p:nvGrpSpPr>
          <p:cNvPr id="46" name=""/>
          <p:cNvGrpSpPr/>
          <p:nvPr/>
        </p:nvGrpSpPr>
        <p:grpSpPr>
          <a:xfrm>
            <a:off x="667800" y="2466000"/>
            <a:ext cx="4132440" cy="2239560"/>
            <a:chOff x="667800" y="2466000"/>
            <a:chExt cx="4132440" cy="2239560"/>
          </a:xfrm>
        </p:grpSpPr>
        <p:pic>
          <p:nvPicPr>
            <p:cNvPr id="47" name="" descr=""/>
            <p:cNvPicPr/>
            <p:nvPr/>
          </p:nvPicPr>
          <p:blipFill>
            <a:blip r:embed="rId2"/>
            <a:stretch/>
          </p:blipFill>
          <p:spPr>
            <a:xfrm>
              <a:off x="667800" y="2466000"/>
              <a:ext cx="4132440" cy="2239560"/>
            </a:xfrm>
            <a:prstGeom prst="rect">
              <a:avLst/>
            </a:prstGeom>
            <a:noFill/>
            <a:ln w="73080">
              <a:noFill/>
            </a:ln>
          </p:spPr>
        </p:pic>
        <p:sp>
          <p:nvSpPr>
            <p:cNvPr id="48" name=""/>
            <p:cNvSpPr/>
            <p:nvPr/>
          </p:nvSpPr>
          <p:spPr>
            <a:xfrm>
              <a:off x="2814120" y="2635200"/>
              <a:ext cx="1056240" cy="232560"/>
            </a:xfrm>
            <a:prstGeom prst="rect">
              <a:avLst/>
            </a:prstGeom>
            <a:noFill/>
            <a:ln w="73080">
              <a:solidFill>
                <a:srgbClr val="ffdd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Noto Serif"/>
                <a:ea typeface="DejaVu Sans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298560" y="1104840"/>
            <a:ext cx="204624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3200" strike="noStrike" u="none">
                <a:solidFill>
                  <a:srgbClr val="eeeeee"/>
                </a:solidFill>
                <a:effectLst/>
                <a:uFillTx/>
                <a:latin typeface="Times New Roman"/>
              </a:rPr>
              <a:t>русский</a:t>
            </a:r>
            <a:endParaRPr b="0" lang="ru-RU" sz="3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"/>
          <p:cNvSpPr/>
          <p:nvPr/>
        </p:nvSpPr>
        <p:spPr>
          <a:xfrm>
            <a:off x="1267560" y="1331640"/>
            <a:ext cx="292428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ru-RU" sz="3200" strike="noStrike" u="none">
                <a:solidFill>
                  <a:srgbClr val="eeeeee"/>
                </a:solidFill>
                <a:effectLst/>
                <a:uFillTx/>
                <a:latin typeface="Times New Roman"/>
                <a:ea typeface="DejaVu Sans"/>
              </a:rPr>
              <a:t>английский</a:t>
            </a:r>
            <a:endParaRPr b="0" lang="ru-RU" sz="3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"/>
          <p:cNvSpPr/>
          <p:nvPr/>
        </p:nvSpPr>
        <p:spPr>
          <a:xfrm>
            <a:off x="209520" y="98280"/>
            <a:ext cx="9667080" cy="639000"/>
          </a:xfrm>
          <a:prstGeom prst="rect">
            <a:avLst/>
          </a:prstGeom>
          <a:noFill/>
          <a:ln w="7308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eeeeee"/>
                </a:solidFill>
                <a:effectLst/>
                <a:uFillTx/>
                <a:latin typeface="Times New Roman"/>
              </a:rPr>
              <a:t>DB Browser for SQLite: создание записи (строки)</a:t>
            </a:r>
            <a:endParaRPr b="0" lang="ru-RU" sz="36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52" name=""/>
          <p:cNvGrpSpPr/>
          <p:nvPr/>
        </p:nvGrpSpPr>
        <p:grpSpPr>
          <a:xfrm>
            <a:off x="457200" y="2430000"/>
            <a:ext cx="4361040" cy="2179440"/>
            <a:chOff x="457200" y="2430000"/>
            <a:chExt cx="4361040" cy="2179440"/>
          </a:xfrm>
        </p:grpSpPr>
        <p:pic>
          <p:nvPicPr>
            <p:cNvPr id="53" name="" descr=""/>
            <p:cNvPicPr/>
            <p:nvPr/>
          </p:nvPicPr>
          <p:blipFill>
            <a:blip r:embed="rId1"/>
            <a:srcRect l="0" t="0" r="9964" b="0"/>
            <a:stretch/>
          </p:blipFill>
          <p:spPr>
            <a:xfrm>
              <a:off x="457200" y="2430000"/>
              <a:ext cx="4361040" cy="2179440"/>
            </a:xfrm>
            <a:prstGeom prst="rect">
              <a:avLst/>
            </a:prstGeom>
            <a:noFill/>
            <a:ln w="73080">
              <a:noFill/>
            </a:ln>
          </p:spPr>
        </p:pic>
        <p:sp>
          <p:nvSpPr>
            <p:cNvPr id="54" name=""/>
            <p:cNvSpPr/>
            <p:nvPr/>
          </p:nvSpPr>
          <p:spPr>
            <a:xfrm>
              <a:off x="1755360" y="2956680"/>
              <a:ext cx="979200" cy="319320"/>
            </a:xfrm>
            <a:prstGeom prst="rect">
              <a:avLst/>
            </a:prstGeom>
            <a:noFill/>
            <a:ln w="73080">
              <a:solidFill>
                <a:srgbClr val="ffdd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Noto Serif"/>
                <a:ea typeface="DejaVu Sans"/>
              </a:endParaRPr>
            </a:p>
          </p:txBody>
        </p:sp>
        <p:sp>
          <p:nvSpPr>
            <p:cNvPr id="55" name=""/>
            <p:cNvSpPr/>
            <p:nvPr/>
          </p:nvSpPr>
          <p:spPr>
            <a:xfrm>
              <a:off x="4009320" y="3244680"/>
              <a:ext cx="352800" cy="328680"/>
            </a:xfrm>
            <a:prstGeom prst="rect">
              <a:avLst/>
            </a:prstGeom>
            <a:noFill/>
            <a:ln w="73080">
              <a:solidFill>
                <a:srgbClr val="ffdd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Noto Serif"/>
                <a:ea typeface="DejaVu Sans"/>
              </a:endParaRPr>
            </a:p>
          </p:txBody>
        </p:sp>
        <p:sp>
          <p:nvSpPr>
            <p:cNvPr id="56" name=""/>
            <p:cNvSpPr/>
            <p:nvPr/>
          </p:nvSpPr>
          <p:spPr>
            <a:xfrm>
              <a:off x="819720" y="3279600"/>
              <a:ext cx="1520280" cy="282240"/>
            </a:xfrm>
            <a:prstGeom prst="rect">
              <a:avLst/>
            </a:prstGeom>
            <a:noFill/>
            <a:ln w="73080">
              <a:solidFill>
                <a:srgbClr val="ffdd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Noto Serif"/>
                <a:ea typeface="DejaVu Sans"/>
              </a:endParaRPr>
            </a:p>
          </p:txBody>
        </p:sp>
      </p:grpSp>
      <p:grpSp>
        <p:nvGrpSpPr>
          <p:cNvPr id="57" name=""/>
          <p:cNvGrpSpPr/>
          <p:nvPr/>
        </p:nvGrpSpPr>
        <p:grpSpPr>
          <a:xfrm>
            <a:off x="5257800" y="2207160"/>
            <a:ext cx="4342680" cy="2665080"/>
            <a:chOff x="5257800" y="2207160"/>
            <a:chExt cx="4342680" cy="2665080"/>
          </a:xfrm>
        </p:grpSpPr>
        <p:pic>
          <p:nvPicPr>
            <p:cNvPr id="58" name="" descr=""/>
            <p:cNvPicPr/>
            <p:nvPr/>
          </p:nvPicPr>
          <p:blipFill>
            <a:blip r:embed="rId2"/>
            <a:srcRect l="0" t="0" r="24062" b="0"/>
            <a:stretch/>
          </p:blipFill>
          <p:spPr>
            <a:xfrm>
              <a:off x="5257800" y="2207160"/>
              <a:ext cx="4342680" cy="2665080"/>
            </a:xfrm>
            <a:prstGeom prst="rect">
              <a:avLst/>
            </a:prstGeom>
            <a:noFill/>
            <a:ln w="73080">
              <a:noFill/>
            </a:ln>
          </p:spPr>
        </p:pic>
        <p:sp>
          <p:nvSpPr>
            <p:cNvPr id="59" name=""/>
            <p:cNvSpPr/>
            <p:nvPr/>
          </p:nvSpPr>
          <p:spPr>
            <a:xfrm>
              <a:off x="6591960" y="3043800"/>
              <a:ext cx="951480" cy="354600"/>
            </a:xfrm>
            <a:prstGeom prst="rect">
              <a:avLst/>
            </a:prstGeom>
            <a:noFill/>
            <a:ln w="73080">
              <a:solidFill>
                <a:srgbClr val="ffdd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Noto Serif"/>
                <a:ea typeface="DejaVu Sans"/>
              </a:endParaRPr>
            </a:p>
          </p:txBody>
        </p:sp>
        <p:sp>
          <p:nvSpPr>
            <p:cNvPr id="60" name=""/>
            <p:cNvSpPr/>
            <p:nvPr/>
          </p:nvSpPr>
          <p:spPr>
            <a:xfrm>
              <a:off x="9096120" y="3354480"/>
              <a:ext cx="352800" cy="328680"/>
            </a:xfrm>
            <a:prstGeom prst="rect">
              <a:avLst/>
            </a:prstGeom>
            <a:noFill/>
            <a:ln w="73080">
              <a:solidFill>
                <a:srgbClr val="ffdd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Noto Serif"/>
                <a:ea typeface="DejaVu Sans"/>
              </a:endParaRPr>
            </a:p>
          </p:txBody>
        </p:sp>
        <p:sp>
          <p:nvSpPr>
            <p:cNvPr id="61" name=""/>
            <p:cNvSpPr/>
            <p:nvPr/>
          </p:nvSpPr>
          <p:spPr>
            <a:xfrm>
              <a:off x="5869440" y="3416760"/>
              <a:ext cx="1491840" cy="239040"/>
            </a:xfrm>
            <a:prstGeom prst="rect">
              <a:avLst/>
            </a:prstGeom>
            <a:noFill/>
            <a:ln w="73080">
              <a:solidFill>
                <a:srgbClr val="ffdd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Noto Serif"/>
                <a:ea typeface="DejaVu Sans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"/>
          <p:cNvSpPr/>
          <p:nvPr/>
        </p:nvSpPr>
        <p:spPr>
          <a:xfrm>
            <a:off x="1757520" y="97560"/>
            <a:ext cx="6568920" cy="639000"/>
          </a:xfrm>
          <a:prstGeom prst="rect">
            <a:avLst/>
          </a:prstGeom>
          <a:noFill/>
          <a:ln w="7308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eeeeee"/>
                </a:solidFill>
                <a:effectLst/>
                <a:uFillTx/>
                <a:latin typeface="Times New Roman"/>
              </a:rPr>
              <a:t>SQLiteStudio: подключение к БД</a:t>
            </a:r>
            <a:endParaRPr b="0" lang="ru-RU" sz="36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6298560" y="1104840"/>
            <a:ext cx="204624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3200" strike="noStrike" u="none">
                <a:solidFill>
                  <a:srgbClr val="eeeeee"/>
                </a:solidFill>
                <a:effectLst/>
                <a:uFillTx/>
                <a:latin typeface="Times New Roman"/>
              </a:rPr>
              <a:t>русский</a:t>
            </a:r>
            <a:endParaRPr b="0" lang="ru-RU" sz="3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"/>
          <p:cNvSpPr/>
          <p:nvPr/>
        </p:nvSpPr>
        <p:spPr>
          <a:xfrm>
            <a:off x="1267560" y="1331640"/>
            <a:ext cx="292428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ru-RU" sz="3200" strike="noStrike" u="none">
                <a:solidFill>
                  <a:srgbClr val="eeeeee"/>
                </a:solidFill>
                <a:effectLst/>
                <a:uFillTx/>
                <a:latin typeface="Times New Roman"/>
                <a:ea typeface="DejaVu Sans"/>
              </a:rPr>
              <a:t>английский</a:t>
            </a:r>
            <a:endParaRPr b="0" lang="ru-RU" sz="3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65" name="" descr=""/>
          <p:cNvPicPr/>
          <p:nvPr/>
        </p:nvPicPr>
        <p:blipFill>
          <a:blip r:embed="rId1"/>
          <a:stretch/>
        </p:blipFill>
        <p:spPr>
          <a:xfrm>
            <a:off x="914400" y="2044800"/>
            <a:ext cx="3630600" cy="3362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6" name="" descr=""/>
          <p:cNvPicPr/>
          <p:nvPr/>
        </p:nvPicPr>
        <p:blipFill>
          <a:blip r:embed="rId2"/>
          <a:stretch/>
        </p:blipFill>
        <p:spPr>
          <a:xfrm>
            <a:off x="5522040" y="2044800"/>
            <a:ext cx="3598920" cy="3362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"/>
          <p:cNvGrpSpPr/>
          <p:nvPr/>
        </p:nvGrpSpPr>
        <p:grpSpPr>
          <a:xfrm>
            <a:off x="667800" y="2238120"/>
            <a:ext cx="4132440" cy="2976120"/>
            <a:chOff x="667800" y="2238120"/>
            <a:chExt cx="4132440" cy="2976120"/>
          </a:xfrm>
        </p:grpSpPr>
        <p:pic>
          <p:nvPicPr>
            <p:cNvPr id="68" name="" descr=""/>
            <p:cNvPicPr/>
            <p:nvPr/>
          </p:nvPicPr>
          <p:blipFill>
            <a:blip r:embed="rId1"/>
            <a:stretch/>
          </p:blipFill>
          <p:spPr>
            <a:xfrm>
              <a:off x="667800" y="2238120"/>
              <a:ext cx="4132440" cy="29761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69" name=""/>
            <p:cNvSpPr/>
            <p:nvPr/>
          </p:nvSpPr>
          <p:spPr>
            <a:xfrm>
              <a:off x="2813400" y="2927160"/>
              <a:ext cx="519840" cy="520200"/>
            </a:xfrm>
            <a:prstGeom prst="rect">
              <a:avLst/>
            </a:prstGeom>
            <a:noFill/>
            <a:ln w="73080">
              <a:solidFill>
                <a:srgbClr val="ffdd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Noto Serif"/>
                <a:ea typeface="DejaVu Sans"/>
              </a:endParaRPr>
            </a:p>
          </p:txBody>
        </p:sp>
      </p:grpSp>
      <p:grpSp>
        <p:nvGrpSpPr>
          <p:cNvPr id="70" name=""/>
          <p:cNvGrpSpPr/>
          <p:nvPr/>
        </p:nvGrpSpPr>
        <p:grpSpPr>
          <a:xfrm>
            <a:off x="5258520" y="2238120"/>
            <a:ext cx="4222800" cy="2976120"/>
            <a:chOff x="5258520" y="2238120"/>
            <a:chExt cx="4222800" cy="2976120"/>
          </a:xfrm>
        </p:grpSpPr>
        <p:pic>
          <p:nvPicPr>
            <p:cNvPr id="71" name="" descr=""/>
            <p:cNvPicPr/>
            <p:nvPr/>
          </p:nvPicPr>
          <p:blipFill>
            <a:blip r:embed="rId2"/>
            <a:srcRect l="0" t="0" r="30614" b="0"/>
            <a:stretch/>
          </p:blipFill>
          <p:spPr>
            <a:xfrm>
              <a:off x="5258520" y="2238120"/>
              <a:ext cx="4222800" cy="29761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72" name=""/>
            <p:cNvSpPr/>
            <p:nvPr/>
          </p:nvSpPr>
          <p:spPr>
            <a:xfrm>
              <a:off x="7220160" y="2871720"/>
              <a:ext cx="520200" cy="519840"/>
            </a:xfrm>
            <a:prstGeom prst="rect">
              <a:avLst/>
            </a:prstGeom>
            <a:noFill/>
            <a:ln w="73080">
              <a:solidFill>
                <a:srgbClr val="ffdd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Noto Serif"/>
                <a:ea typeface="DejaVu Sans"/>
              </a:endParaRPr>
            </a:p>
          </p:txBody>
        </p:sp>
      </p:grpSp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6298560" y="1104840"/>
            <a:ext cx="204624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3200" strike="noStrike" u="none">
                <a:solidFill>
                  <a:srgbClr val="eeeeee"/>
                </a:solidFill>
                <a:effectLst/>
                <a:uFillTx/>
                <a:latin typeface="Times New Roman"/>
              </a:rPr>
              <a:t>русский</a:t>
            </a:r>
            <a:endParaRPr b="0" lang="ru-RU" sz="3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4" name=""/>
          <p:cNvSpPr/>
          <p:nvPr/>
        </p:nvSpPr>
        <p:spPr>
          <a:xfrm>
            <a:off x="1267560" y="1331640"/>
            <a:ext cx="292428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ru-RU" sz="3200" strike="noStrike" u="none">
                <a:solidFill>
                  <a:srgbClr val="eeeeee"/>
                </a:solidFill>
                <a:effectLst/>
                <a:uFillTx/>
                <a:latin typeface="Times New Roman"/>
                <a:ea typeface="DejaVu Sans"/>
              </a:rPr>
              <a:t>английский</a:t>
            </a:r>
            <a:endParaRPr b="0" lang="ru-RU" sz="3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"/>
          <p:cNvSpPr/>
          <p:nvPr/>
        </p:nvSpPr>
        <p:spPr>
          <a:xfrm>
            <a:off x="1820880" y="97920"/>
            <a:ext cx="6441480" cy="639000"/>
          </a:xfrm>
          <a:prstGeom prst="rect">
            <a:avLst/>
          </a:prstGeom>
          <a:noFill/>
          <a:ln w="7308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eeeeee"/>
                </a:solidFill>
                <a:effectLst/>
                <a:uFillTx/>
                <a:latin typeface="Times New Roman"/>
              </a:rPr>
              <a:t>SQLiteStudio: создание таблицы</a:t>
            </a:r>
            <a:endParaRPr b="0" lang="ru-RU" sz="36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6298560" y="1104840"/>
            <a:ext cx="204624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3200" strike="noStrike" u="none">
                <a:solidFill>
                  <a:srgbClr val="eeeeee"/>
                </a:solidFill>
                <a:effectLst/>
                <a:uFillTx/>
                <a:latin typeface="Times New Roman"/>
              </a:rPr>
              <a:t>русский</a:t>
            </a:r>
            <a:endParaRPr b="0" lang="ru-RU" sz="3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"/>
          <p:cNvSpPr/>
          <p:nvPr/>
        </p:nvSpPr>
        <p:spPr>
          <a:xfrm>
            <a:off x="1267560" y="1331640"/>
            <a:ext cx="292428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ru-RU" sz="3200" strike="noStrike" u="none">
                <a:solidFill>
                  <a:srgbClr val="eeeeee"/>
                </a:solidFill>
                <a:effectLst/>
                <a:uFillTx/>
                <a:latin typeface="Times New Roman"/>
                <a:ea typeface="DejaVu Sans"/>
              </a:rPr>
              <a:t>английский</a:t>
            </a:r>
            <a:endParaRPr b="0" lang="ru-RU" sz="3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78" name="" descr=""/>
          <p:cNvPicPr/>
          <p:nvPr/>
        </p:nvPicPr>
        <p:blipFill>
          <a:blip r:embed="rId1"/>
          <a:stretch/>
        </p:blipFill>
        <p:spPr>
          <a:xfrm>
            <a:off x="1143000" y="2030400"/>
            <a:ext cx="3428640" cy="3377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9" name="" descr=""/>
          <p:cNvPicPr/>
          <p:nvPr/>
        </p:nvPicPr>
        <p:blipFill>
          <a:blip r:embed="rId2"/>
          <a:stretch/>
        </p:blipFill>
        <p:spPr>
          <a:xfrm>
            <a:off x="5693400" y="2030040"/>
            <a:ext cx="3450240" cy="3362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" name=""/>
          <p:cNvSpPr/>
          <p:nvPr/>
        </p:nvSpPr>
        <p:spPr>
          <a:xfrm>
            <a:off x="1885680" y="98280"/>
            <a:ext cx="6313680" cy="639000"/>
          </a:xfrm>
          <a:prstGeom prst="rect">
            <a:avLst/>
          </a:prstGeom>
          <a:noFill/>
          <a:ln w="7308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eeeeee"/>
                </a:solidFill>
                <a:effectLst/>
                <a:uFillTx/>
                <a:latin typeface="Times New Roman"/>
              </a:rPr>
              <a:t>SQLiteStudio: создание столбца</a:t>
            </a:r>
            <a:endParaRPr b="0" lang="ru-RU" sz="36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6298560" y="1104840"/>
            <a:ext cx="204624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3200" strike="noStrike" u="none">
                <a:solidFill>
                  <a:srgbClr val="eeeeee"/>
                </a:solidFill>
                <a:effectLst/>
                <a:uFillTx/>
                <a:latin typeface="Times New Roman"/>
              </a:rPr>
              <a:t>русский</a:t>
            </a:r>
            <a:endParaRPr b="0" lang="ru-RU" sz="3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"/>
          <p:cNvSpPr/>
          <p:nvPr/>
        </p:nvSpPr>
        <p:spPr>
          <a:xfrm>
            <a:off x="1267560" y="1331640"/>
            <a:ext cx="292428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ru-RU" sz="3200" strike="noStrike" u="none">
                <a:solidFill>
                  <a:srgbClr val="eeeeee"/>
                </a:solidFill>
                <a:effectLst/>
                <a:uFillTx/>
                <a:latin typeface="Times New Roman"/>
                <a:ea typeface="DejaVu Sans"/>
              </a:rPr>
              <a:t>английский</a:t>
            </a:r>
            <a:endParaRPr b="0" lang="ru-RU" sz="3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"/>
          <p:cNvSpPr/>
          <p:nvPr/>
        </p:nvSpPr>
        <p:spPr>
          <a:xfrm>
            <a:off x="1362240" y="97200"/>
            <a:ext cx="7357320" cy="639000"/>
          </a:xfrm>
          <a:prstGeom prst="rect">
            <a:avLst/>
          </a:prstGeom>
          <a:noFill/>
          <a:ln w="7308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eeeeee"/>
                </a:solidFill>
                <a:effectLst/>
                <a:uFillTx/>
                <a:latin typeface="Times New Roman"/>
              </a:rPr>
              <a:t>SQLiteStudio: сохранение изменений</a:t>
            </a:r>
            <a:endParaRPr b="0" lang="ru-RU" sz="36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grpSp>
        <p:nvGrpSpPr>
          <p:cNvPr id="84" name=""/>
          <p:cNvGrpSpPr/>
          <p:nvPr/>
        </p:nvGrpSpPr>
        <p:grpSpPr>
          <a:xfrm>
            <a:off x="667800" y="2286000"/>
            <a:ext cx="4132440" cy="2434320"/>
            <a:chOff x="667800" y="2286000"/>
            <a:chExt cx="4132440" cy="2434320"/>
          </a:xfrm>
        </p:grpSpPr>
        <p:pic>
          <p:nvPicPr>
            <p:cNvPr id="85" name="" descr=""/>
            <p:cNvPicPr/>
            <p:nvPr/>
          </p:nvPicPr>
          <p:blipFill>
            <a:blip r:embed="rId1"/>
            <a:srcRect l="0" t="0" r="35272" b="0"/>
            <a:stretch/>
          </p:blipFill>
          <p:spPr>
            <a:xfrm>
              <a:off x="667800" y="2286000"/>
              <a:ext cx="4132440" cy="24343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86" name=""/>
            <p:cNvSpPr/>
            <p:nvPr/>
          </p:nvSpPr>
          <p:spPr>
            <a:xfrm>
              <a:off x="2109240" y="3116520"/>
              <a:ext cx="291240" cy="291600"/>
            </a:xfrm>
            <a:prstGeom prst="rect">
              <a:avLst/>
            </a:prstGeom>
            <a:noFill/>
            <a:ln w="73080">
              <a:solidFill>
                <a:srgbClr val="ffdd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Noto Serif"/>
                <a:ea typeface="DejaVu Sans"/>
              </a:endParaRPr>
            </a:p>
          </p:txBody>
        </p:sp>
      </p:grpSp>
      <p:grpSp>
        <p:nvGrpSpPr>
          <p:cNvPr id="87" name=""/>
          <p:cNvGrpSpPr/>
          <p:nvPr/>
        </p:nvGrpSpPr>
        <p:grpSpPr>
          <a:xfrm>
            <a:off x="5051520" y="2291400"/>
            <a:ext cx="4549320" cy="2428920"/>
            <a:chOff x="5051520" y="2291400"/>
            <a:chExt cx="4549320" cy="2428920"/>
          </a:xfrm>
        </p:grpSpPr>
        <p:pic>
          <p:nvPicPr>
            <p:cNvPr id="88" name="" descr=""/>
            <p:cNvPicPr/>
            <p:nvPr/>
          </p:nvPicPr>
          <p:blipFill>
            <a:blip r:embed="rId2"/>
            <a:srcRect l="0" t="0" r="51843" b="0"/>
            <a:stretch/>
          </p:blipFill>
          <p:spPr>
            <a:xfrm>
              <a:off x="5051520" y="2291400"/>
              <a:ext cx="4549320" cy="242892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89" name=""/>
            <p:cNvSpPr/>
            <p:nvPr/>
          </p:nvSpPr>
          <p:spPr>
            <a:xfrm>
              <a:off x="6651000" y="3211560"/>
              <a:ext cx="291240" cy="291600"/>
            </a:xfrm>
            <a:prstGeom prst="rect">
              <a:avLst/>
            </a:prstGeom>
            <a:noFill/>
            <a:ln w="73080">
              <a:solidFill>
                <a:srgbClr val="ffdd33"/>
              </a:solidFill>
              <a:miter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ctr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ffffff"/>
                </a:solidFill>
                <a:effectLst/>
                <a:uFillTx/>
                <a:latin typeface="Noto Serif"/>
                <a:ea typeface="DejaVu Sans"/>
              </a:endParaRPr>
            </a:p>
          </p:txBody>
        </p:sp>
      </p:grpSp>
      <p:sp>
        <p:nvSpPr>
          <p:cNvPr id="90" name=""/>
          <p:cNvSpPr/>
          <p:nvPr/>
        </p:nvSpPr>
        <p:spPr>
          <a:xfrm>
            <a:off x="0" y="5189400"/>
            <a:ext cx="1008036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ru-RU" sz="1800" strike="noStrike" u="none">
                <a:solidFill>
                  <a:srgbClr val="eeeeee"/>
                </a:solidFill>
                <a:effectLst/>
                <a:uFill>
                  <a:solidFill>
                    <a:srgbClr val="ffdd33"/>
                  </a:solidFill>
                </a:uFill>
                <a:latin typeface="Times New Roman"/>
                <a:ea typeface="DejaVu Sans"/>
              </a:rPr>
              <a:t>во вкладке </a:t>
            </a:r>
            <a:r>
              <a:rPr b="0" lang="ru-RU" sz="1800" strike="noStrike" u="sng">
                <a:solidFill>
                  <a:srgbClr val="eeeeee"/>
                </a:solidFill>
                <a:effectLst/>
                <a:uFill>
                  <a:solidFill>
                    <a:srgbClr val="ffdd33"/>
                  </a:solidFill>
                </a:uFill>
                <a:latin typeface="Times New Roman"/>
                <a:ea typeface="DejaVu Sans"/>
              </a:rPr>
              <a:t>Data (Данные)</a:t>
            </a:r>
            <a:r>
              <a:rPr b="0" lang="ru-RU" sz="1800" strike="noStrike" u="none">
                <a:solidFill>
                  <a:srgbClr val="eeeeee"/>
                </a:solidFill>
                <a:effectLst/>
                <a:uFill>
                  <a:solidFill>
                    <a:srgbClr val="ffdd33"/>
                  </a:solidFill>
                </a:uFill>
                <a:latin typeface="Times New Roman"/>
                <a:ea typeface="DejaVu Sans"/>
              </a:rPr>
              <a:t> можно вручную указать </a:t>
            </a:r>
            <a:r>
              <a:rPr b="0" lang="ru-RU" sz="1800" strike="noStrike" u="sng">
                <a:solidFill>
                  <a:srgbClr val="eeeeee"/>
                </a:solidFill>
                <a:effectLst/>
                <a:uFill>
                  <a:solidFill>
                    <a:srgbClr val="ffdd33"/>
                  </a:solidFill>
                </a:uFill>
                <a:latin typeface="Times New Roman"/>
                <a:ea typeface="DejaVu Sans"/>
              </a:rPr>
              <a:t>записи (строки) БД</a:t>
            </a:r>
            <a:r>
              <a:rPr b="0" lang="ru-RU" sz="1800" strike="noStrike" u="none">
                <a:solidFill>
                  <a:srgbClr val="eeeeee"/>
                </a:solidFill>
                <a:effectLst/>
                <a:uFill>
                  <a:solidFill>
                    <a:srgbClr val="ffdd33"/>
                  </a:solidFill>
                </a:uFill>
                <a:latin typeface="Times New Roman"/>
                <a:ea typeface="DejaVu Sans"/>
              </a:rPr>
              <a:t> и сохранить их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6298560" y="1104840"/>
            <a:ext cx="2046240" cy="947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3200" strike="noStrike" u="none">
                <a:solidFill>
                  <a:srgbClr val="eeeeee"/>
                </a:solidFill>
                <a:effectLst/>
                <a:uFillTx/>
                <a:latin typeface="Times New Roman"/>
              </a:rPr>
              <a:t>русский</a:t>
            </a:r>
            <a:endParaRPr b="0" lang="ru-RU" sz="3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"/>
          <p:cNvSpPr/>
          <p:nvPr/>
        </p:nvSpPr>
        <p:spPr>
          <a:xfrm>
            <a:off x="1267560" y="1331640"/>
            <a:ext cx="2924280" cy="48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ru-RU" sz="3200" strike="noStrike" u="none">
                <a:solidFill>
                  <a:srgbClr val="eeeeee"/>
                </a:solidFill>
                <a:effectLst/>
                <a:uFillTx/>
                <a:latin typeface="Times New Roman"/>
                <a:ea typeface="DejaVu Sans"/>
              </a:rPr>
              <a:t>английский</a:t>
            </a:r>
            <a:endParaRPr b="0" lang="ru-RU" sz="3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93" name="" descr=""/>
          <p:cNvPicPr/>
          <p:nvPr/>
        </p:nvPicPr>
        <p:blipFill>
          <a:blip r:embed="rId1"/>
          <a:srcRect l="10114" t="0" r="0" b="47924"/>
          <a:stretch/>
        </p:blipFill>
        <p:spPr>
          <a:xfrm>
            <a:off x="842400" y="1977480"/>
            <a:ext cx="3784320" cy="3115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4" name="" descr=""/>
          <p:cNvPicPr/>
          <p:nvPr/>
        </p:nvPicPr>
        <p:blipFill>
          <a:blip r:embed="rId2"/>
          <a:srcRect l="9537" t="0" r="0" b="40897"/>
          <a:stretch/>
        </p:blipFill>
        <p:spPr>
          <a:xfrm>
            <a:off x="5139360" y="1977480"/>
            <a:ext cx="4461480" cy="3110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5" name=""/>
          <p:cNvSpPr/>
          <p:nvPr/>
        </p:nvSpPr>
        <p:spPr>
          <a:xfrm>
            <a:off x="1095120" y="3295440"/>
            <a:ext cx="1780920" cy="218880"/>
          </a:xfrm>
          <a:prstGeom prst="rect">
            <a:avLst/>
          </a:prstGeom>
          <a:noFill/>
          <a:ln w="73080">
            <a:solidFill>
              <a:srgbClr val="ffdd3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Noto Serif"/>
              <a:ea typeface="DejaVu Sans"/>
            </a:endParaRPr>
          </a:p>
        </p:txBody>
      </p:sp>
      <p:sp>
        <p:nvSpPr>
          <p:cNvPr id="96" name=""/>
          <p:cNvSpPr/>
          <p:nvPr/>
        </p:nvSpPr>
        <p:spPr>
          <a:xfrm>
            <a:off x="5377680" y="3089160"/>
            <a:ext cx="2070720" cy="192600"/>
          </a:xfrm>
          <a:prstGeom prst="rect">
            <a:avLst/>
          </a:prstGeom>
          <a:noFill/>
          <a:ln w="73080">
            <a:solidFill>
              <a:srgbClr val="ffdd3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ffffff"/>
              </a:solidFill>
              <a:effectLst/>
              <a:uFillTx/>
              <a:latin typeface="Noto Serif"/>
              <a:ea typeface="DejaVu Sans"/>
            </a:endParaRPr>
          </a:p>
        </p:txBody>
      </p:sp>
      <p:sp>
        <p:nvSpPr>
          <p:cNvPr id="97" name=""/>
          <p:cNvSpPr/>
          <p:nvPr/>
        </p:nvSpPr>
        <p:spPr>
          <a:xfrm>
            <a:off x="0" y="5189400"/>
            <a:ext cx="1008036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ru-RU" sz="1800" strike="noStrike" u="sng">
                <a:solidFill>
                  <a:srgbClr val="eeeeee"/>
                </a:solidFill>
                <a:effectLst/>
                <a:uFill>
                  <a:solidFill>
                    <a:srgbClr val="ffdd33"/>
                  </a:solidFill>
                </a:uFill>
                <a:latin typeface="Times New Roman"/>
                <a:ea typeface="DejaVu Sans"/>
              </a:rPr>
              <a:t>sqlite.c</a:t>
            </a:r>
            <a:r>
              <a:rPr b="0" lang="ru-RU" sz="1800" strike="noStrike" u="none">
                <a:solidFill>
                  <a:srgbClr val="eeeeee"/>
                </a:solidFill>
                <a:effectLst/>
                <a:uFill>
                  <a:solidFill>
                    <a:srgbClr val="ffdd33"/>
                  </a:solidFill>
                </a:uFill>
                <a:latin typeface="Times New Roman"/>
                <a:ea typeface="DejaVu Sans"/>
              </a:rPr>
              <a:t> в </a:t>
            </a:r>
            <a:r>
              <a:rPr b="0" lang="ru-RU" sz="1800" strike="noStrike" u="sng">
                <a:solidFill>
                  <a:srgbClr val="eeeeee"/>
                </a:solidFill>
                <a:effectLst/>
                <a:uFill>
                  <a:solidFill>
                    <a:srgbClr val="ffdd33"/>
                  </a:solidFill>
                </a:uFill>
                <a:latin typeface="Times New Roman"/>
                <a:ea typeface="DejaVu Sans"/>
              </a:rPr>
              <a:t>Source Files</a:t>
            </a:r>
            <a:r>
              <a:rPr b="0" lang="ru-RU" sz="1800" strike="noStrike" u="none">
                <a:solidFill>
                  <a:srgbClr val="eeeeee"/>
                </a:solidFill>
                <a:effectLst/>
                <a:uFill>
                  <a:solidFill>
                    <a:srgbClr val="ffdd33"/>
                  </a:solidFill>
                </a:uFill>
                <a:latin typeface="Times New Roman"/>
                <a:ea typeface="DejaVu Sans"/>
              </a:rPr>
              <a:t>, </a:t>
            </a:r>
            <a:r>
              <a:rPr b="0" lang="ru-RU" sz="1800" strike="noStrike" u="sng">
                <a:solidFill>
                  <a:srgbClr val="eeeeee"/>
                </a:solidFill>
                <a:effectLst/>
                <a:uFill>
                  <a:solidFill>
                    <a:srgbClr val="ffdd33"/>
                  </a:solidFill>
                </a:uFill>
                <a:latin typeface="Times New Roman"/>
                <a:ea typeface="DejaVu Sans"/>
              </a:rPr>
              <a:t>sqlite.h</a:t>
            </a:r>
            <a:r>
              <a:rPr b="0" lang="ru-RU" sz="1800" strike="noStrike" u="none">
                <a:solidFill>
                  <a:srgbClr val="eeeeee"/>
                </a:solidFill>
                <a:effectLst/>
                <a:uFill>
                  <a:solidFill>
                    <a:srgbClr val="ffdd33"/>
                  </a:solidFill>
                </a:uFill>
                <a:latin typeface="Times New Roman"/>
                <a:ea typeface="DejaVu Sans"/>
              </a:rPr>
              <a:t> в </a:t>
            </a:r>
            <a:r>
              <a:rPr b="0" lang="ru-RU" sz="1800" strike="noStrike" u="sng">
                <a:solidFill>
                  <a:srgbClr val="eeeeee"/>
                </a:solidFill>
                <a:effectLst/>
                <a:uFill>
                  <a:solidFill>
                    <a:srgbClr val="ffdd33"/>
                  </a:solidFill>
                </a:uFill>
                <a:latin typeface="Times New Roman"/>
                <a:ea typeface="DejaVu Sans"/>
              </a:rPr>
              <a:t>Header Files</a:t>
            </a:r>
            <a:r>
              <a:rPr b="0" lang="ru-RU" sz="1800" strike="noStrike" u="none">
                <a:solidFill>
                  <a:srgbClr val="eeeeee"/>
                </a:solidFill>
                <a:effectLst/>
                <a:uFill>
                  <a:solidFill>
                    <a:srgbClr val="ffdd33"/>
                  </a:solidFill>
                </a:uFill>
                <a:latin typeface="Times New Roman"/>
                <a:ea typeface="DejaVu Sans"/>
              </a:rPr>
              <a:t> (нажать правой кнопкой мыши на соотв. папку)</a:t>
            </a:r>
            <a:endParaRPr b="0" lang="ru-RU" sz="18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"/>
          <p:cNvSpPr/>
          <p:nvPr/>
        </p:nvSpPr>
        <p:spPr>
          <a:xfrm>
            <a:off x="1303200" y="97200"/>
            <a:ext cx="7475760" cy="639000"/>
          </a:xfrm>
          <a:prstGeom prst="rect">
            <a:avLst/>
          </a:prstGeom>
          <a:noFill/>
          <a:ln w="7308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eeeeee"/>
                </a:solidFill>
                <a:effectLst/>
                <a:uFillTx/>
                <a:latin typeface="Times New Roman"/>
              </a:rPr>
              <a:t>Добавление сущ. файлов в проект VS</a:t>
            </a:r>
            <a:endParaRPr b="0" lang="ru-RU" sz="36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1c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/>
          </p:nvPr>
        </p:nvSpPr>
        <p:spPr>
          <a:xfrm>
            <a:off x="504000" y="5004000"/>
            <a:ext cx="9070920" cy="64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 anchorCtr="1">
            <a:normAutofit/>
          </a:bodyPr>
          <a:p>
            <a:pPr marL="432000" indent="0" algn="ctr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r>
              <a:rPr b="0" lang="ru-RU" sz="3200" strike="noStrike" u="sng">
                <a:solidFill>
                  <a:srgbClr val="eeeeee"/>
                </a:solidFill>
                <a:effectLst/>
                <a:uFill>
                  <a:solidFill>
                    <a:srgbClr val="ffdd33"/>
                  </a:solidFill>
                </a:uFill>
                <a:latin typeface="Times New Roman"/>
              </a:rPr>
              <a:t>https://github.com/evtish/sqlite-cpp-example</a:t>
            </a:r>
            <a:endParaRPr b="0" lang="ru-RU" sz="32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100" name="" descr=""/>
          <p:cNvPicPr/>
          <p:nvPr/>
        </p:nvPicPr>
        <p:blipFill>
          <a:blip r:embed="rId1"/>
          <a:stretch/>
        </p:blipFill>
        <p:spPr>
          <a:xfrm>
            <a:off x="3156840" y="1107000"/>
            <a:ext cx="3734640" cy="3734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" name=""/>
          <p:cNvSpPr/>
          <p:nvPr/>
        </p:nvSpPr>
        <p:spPr>
          <a:xfrm>
            <a:off x="1710000" y="97200"/>
            <a:ext cx="6661800" cy="639000"/>
          </a:xfrm>
          <a:prstGeom prst="rect">
            <a:avLst/>
          </a:prstGeom>
          <a:noFill/>
          <a:ln w="7308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100000"/>
              </a:lnSpc>
            </a:pPr>
            <a:r>
              <a:rPr b="0" lang="en-US" sz="3600" strike="noStrike" u="none">
                <a:solidFill>
                  <a:srgbClr val="eeeeee"/>
                </a:solidFill>
                <a:effectLst/>
                <a:uFillTx/>
                <a:latin typeface="Times New Roman"/>
              </a:rPr>
              <a:t>Репозиторий с кодом и ссылками</a:t>
            </a:r>
            <a:endParaRPr b="0" lang="ru-RU" sz="36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153</TotalTime>
  <Application>LibreOffice/25.2.7.2$Linux_X86_64 LibreOffice_project/520$Build-2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2026-01-15T08:35:24Z</dcterms:created>
  <dc:creator/>
  <dc:description/>
  <dc:language>en-GB</dc:language>
  <cp:lastModifiedBy/>
  <dcterms:modified xsi:type="dcterms:W3CDTF">2026-01-29T07:33:38Z</dcterms:modified>
  <cp:revision>53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