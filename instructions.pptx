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17880"/>
            <a:ext cx="90712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B8AA8-CAAF-48C9-955E-CDD1658D0C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Click to edit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the title text 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Second Outline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imbus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27DBDA-1871-490B-A8A4-9A13280A8B11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imbus Roman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943360" y="2563200"/>
            <a:ext cx="4194360" cy="97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ffdd33"/>
              </a:buClr>
              <a:buFont typeface="Symbol" charset="2"/>
              <a:buChar char=""/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Browser for SQLite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  <a:p>
            <a:pPr marL="216000" indent="-216000">
              <a:lnSpc>
                <a:spcPct val="100000"/>
              </a:lnSpc>
              <a:buClr>
                <a:srgbClr val="ffdd33"/>
              </a:buClr>
              <a:buFont typeface="Symbol" charset="2"/>
              <a:buChar char=""/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SQLiteStudio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676600" y="351720"/>
            <a:ext cx="4731120" cy="6498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b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GUI для SQLite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182680" y="9756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Browser for SQLite: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подключение к БД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" name=""/>
          <p:cNvGrpSpPr/>
          <p:nvPr/>
        </p:nvGrpSpPr>
        <p:grpSpPr>
          <a:xfrm>
            <a:off x="914400" y="2919960"/>
            <a:ext cx="3645000" cy="1109160"/>
            <a:chOff x="914400" y="2919960"/>
            <a:chExt cx="3645000" cy="1109160"/>
          </a:xfrm>
        </p:grpSpPr>
        <p:pic>
          <p:nvPicPr>
            <p:cNvPr id="13" name="" descr=""/>
            <p:cNvPicPr/>
            <p:nvPr/>
          </p:nvPicPr>
          <p:blipFill>
            <a:blip r:embed="rId1"/>
            <a:stretch/>
          </p:blipFill>
          <p:spPr>
            <a:xfrm>
              <a:off x="914400" y="2919960"/>
              <a:ext cx="3645000" cy="110916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14" name=""/>
            <p:cNvSpPr/>
            <p:nvPr/>
          </p:nvSpPr>
          <p:spPr>
            <a:xfrm>
              <a:off x="1008000" y="3113640"/>
              <a:ext cx="817200" cy="217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1836000" y="3113640"/>
              <a:ext cx="1009440" cy="217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16" name=""/>
          <p:cNvGrpSpPr/>
          <p:nvPr/>
        </p:nvGrpSpPr>
        <p:grpSpPr>
          <a:xfrm>
            <a:off x="5522040" y="2949120"/>
            <a:ext cx="3599280" cy="1050840"/>
            <a:chOff x="5522040" y="2949120"/>
            <a:chExt cx="3599280" cy="1050840"/>
          </a:xfrm>
        </p:grpSpPr>
        <p:pic>
          <p:nvPicPr>
            <p:cNvPr id="17" name="" descr=""/>
            <p:cNvPicPr/>
            <p:nvPr/>
          </p:nvPicPr>
          <p:blipFill>
            <a:blip r:embed="rId2"/>
            <a:stretch/>
          </p:blipFill>
          <p:spPr>
            <a:xfrm>
              <a:off x="5522040" y="2949120"/>
              <a:ext cx="3599280" cy="105084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18" name=""/>
            <p:cNvSpPr/>
            <p:nvPr/>
          </p:nvSpPr>
          <p:spPr>
            <a:xfrm>
              <a:off x="5588640" y="3113640"/>
              <a:ext cx="817200" cy="217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16640" y="3113640"/>
              <a:ext cx="1009440" cy="217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1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83040" y="9792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Browser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for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создание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таблицы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grpSp>
        <p:nvGrpSpPr>
          <p:cNvPr id="23" name=""/>
          <p:cNvGrpSpPr/>
          <p:nvPr/>
        </p:nvGrpSpPr>
        <p:grpSpPr>
          <a:xfrm>
            <a:off x="667800" y="2743200"/>
            <a:ext cx="4132800" cy="1966320"/>
            <a:chOff x="667800" y="2743200"/>
            <a:chExt cx="4132800" cy="1966320"/>
          </a:xfrm>
        </p:grpSpPr>
        <p:pic>
          <p:nvPicPr>
            <p:cNvPr id="24" name="" descr=""/>
            <p:cNvPicPr/>
            <p:nvPr/>
          </p:nvPicPr>
          <p:blipFill>
            <a:blip r:embed="rId1"/>
            <a:stretch/>
          </p:blipFill>
          <p:spPr>
            <a:xfrm>
              <a:off x="667800" y="2743200"/>
              <a:ext cx="4132800" cy="196632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25" name=""/>
            <p:cNvSpPr/>
            <p:nvPr/>
          </p:nvSpPr>
          <p:spPr>
            <a:xfrm>
              <a:off x="724680" y="3499200"/>
              <a:ext cx="963720" cy="289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26" name=""/>
          <p:cNvGrpSpPr/>
          <p:nvPr/>
        </p:nvGrpSpPr>
        <p:grpSpPr>
          <a:xfrm>
            <a:off x="5257800" y="2750760"/>
            <a:ext cx="4224240" cy="1951560"/>
            <a:chOff x="5257800" y="2750760"/>
            <a:chExt cx="4224240" cy="1951560"/>
          </a:xfrm>
        </p:grpSpPr>
        <p:pic>
          <p:nvPicPr>
            <p:cNvPr id="27" name="" descr=""/>
            <p:cNvPicPr/>
            <p:nvPr/>
          </p:nvPicPr>
          <p:blipFill>
            <a:blip r:embed="rId2"/>
            <a:stretch/>
          </p:blipFill>
          <p:spPr>
            <a:xfrm>
              <a:off x="5257800" y="2750760"/>
              <a:ext cx="4224240" cy="195156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28" name=""/>
            <p:cNvSpPr/>
            <p:nvPr/>
          </p:nvSpPr>
          <p:spPr>
            <a:xfrm>
              <a:off x="5313960" y="3486240"/>
              <a:ext cx="1219320" cy="2890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183400" y="9828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Browser for SQLite: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создание столбца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457200" y="2030400"/>
            <a:ext cx="4343040" cy="3409920"/>
            <a:chOff x="457200" y="2030400"/>
            <a:chExt cx="4343040" cy="3409920"/>
          </a:xfrm>
        </p:grpSpPr>
        <p:pic>
          <p:nvPicPr>
            <p:cNvPr id="33" name="" descr=""/>
            <p:cNvPicPr/>
            <p:nvPr/>
          </p:nvPicPr>
          <p:blipFill>
            <a:blip r:embed="rId1"/>
            <a:stretch/>
          </p:blipFill>
          <p:spPr>
            <a:xfrm>
              <a:off x="457200" y="2030400"/>
              <a:ext cx="4343040" cy="340992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34" name=""/>
            <p:cNvSpPr/>
            <p:nvPr/>
          </p:nvSpPr>
          <p:spPr>
            <a:xfrm>
              <a:off x="518760" y="2365920"/>
              <a:ext cx="938160" cy="23904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518760" y="2977920"/>
              <a:ext cx="405360" cy="2163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36" name=""/>
          <p:cNvGrpSpPr/>
          <p:nvPr/>
        </p:nvGrpSpPr>
        <p:grpSpPr>
          <a:xfrm>
            <a:off x="5257800" y="2057400"/>
            <a:ext cx="4315680" cy="3382920"/>
            <a:chOff x="5257800" y="2057400"/>
            <a:chExt cx="4315680" cy="3382920"/>
          </a:xfrm>
        </p:grpSpPr>
        <p:pic>
          <p:nvPicPr>
            <p:cNvPr id="37" name="" descr=""/>
            <p:cNvPicPr/>
            <p:nvPr/>
          </p:nvPicPr>
          <p:blipFill>
            <a:blip r:embed="rId2"/>
            <a:stretch/>
          </p:blipFill>
          <p:spPr>
            <a:xfrm>
              <a:off x="5257800" y="2057400"/>
              <a:ext cx="4315680" cy="338292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38" name=""/>
            <p:cNvSpPr/>
            <p:nvPr/>
          </p:nvSpPr>
          <p:spPr>
            <a:xfrm>
              <a:off x="5326200" y="2378880"/>
              <a:ext cx="938160" cy="2296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5326200" y="2984040"/>
              <a:ext cx="393120" cy="2163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1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182320" y="9720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Browser for SQLite: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сохранение изменений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5257800" y="2466000"/>
            <a:ext cx="4132800" cy="2177280"/>
            <a:chOff x="5257800" y="2466000"/>
            <a:chExt cx="4132800" cy="2177280"/>
          </a:xfrm>
        </p:grpSpPr>
        <p:pic>
          <p:nvPicPr>
            <p:cNvPr id="44" name="" descr=""/>
            <p:cNvPicPr/>
            <p:nvPr/>
          </p:nvPicPr>
          <p:blipFill>
            <a:blip r:embed="rId1"/>
            <a:stretch/>
          </p:blipFill>
          <p:spPr>
            <a:xfrm>
              <a:off x="5257800" y="2466000"/>
              <a:ext cx="4132800" cy="217728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45" name=""/>
            <p:cNvSpPr/>
            <p:nvPr/>
          </p:nvSpPr>
          <p:spPr>
            <a:xfrm>
              <a:off x="7114680" y="2818440"/>
              <a:ext cx="1208880" cy="21960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46" name=""/>
          <p:cNvGrpSpPr/>
          <p:nvPr/>
        </p:nvGrpSpPr>
        <p:grpSpPr>
          <a:xfrm>
            <a:off x="667800" y="2466000"/>
            <a:ext cx="4132800" cy="2239920"/>
            <a:chOff x="667800" y="2466000"/>
            <a:chExt cx="4132800" cy="2239920"/>
          </a:xfrm>
        </p:grpSpPr>
        <p:pic>
          <p:nvPicPr>
            <p:cNvPr id="47" name="" descr=""/>
            <p:cNvPicPr/>
            <p:nvPr/>
          </p:nvPicPr>
          <p:blipFill>
            <a:blip r:embed="rId2"/>
            <a:stretch/>
          </p:blipFill>
          <p:spPr>
            <a:xfrm>
              <a:off x="667800" y="2466000"/>
              <a:ext cx="4132800" cy="223992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48" name=""/>
            <p:cNvSpPr/>
            <p:nvPr/>
          </p:nvSpPr>
          <p:spPr>
            <a:xfrm>
              <a:off x="2814120" y="2635200"/>
              <a:ext cx="1056600" cy="23292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у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к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и</a:t>
            </a: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50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086560" y="98280"/>
            <a:ext cx="591264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DB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Bro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wse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r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for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Lit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e: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соз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дан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ие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зап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иси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(ст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рок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и)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457200" y="2430000"/>
            <a:ext cx="4361400" cy="2179800"/>
            <a:chOff x="457200" y="2430000"/>
            <a:chExt cx="4361400" cy="2179800"/>
          </a:xfrm>
        </p:grpSpPr>
        <p:pic>
          <p:nvPicPr>
            <p:cNvPr id="53" name="" descr=""/>
            <p:cNvPicPr/>
            <p:nvPr/>
          </p:nvPicPr>
          <p:blipFill>
            <a:blip r:embed="rId1"/>
            <a:srcRect l="0" t="0" r="9964" b="0"/>
            <a:stretch/>
          </p:blipFill>
          <p:spPr>
            <a:xfrm>
              <a:off x="457200" y="2430000"/>
              <a:ext cx="4361400" cy="217980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54" name=""/>
            <p:cNvSpPr/>
            <p:nvPr/>
          </p:nvSpPr>
          <p:spPr>
            <a:xfrm>
              <a:off x="1755360" y="2956680"/>
              <a:ext cx="979560" cy="31968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009320" y="3244680"/>
              <a:ext cx="353160" cy="32904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19720" y="3279600"/>
              <a:ext cx="1520640" cy="28260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5257800" y="2207160"/>
            <a:ext cx="4343040" cy="2665440"/>
            <a:chOff x="5257800" y="2207160"/>
            <a:chExt cx="4343040" cy="2665440"/>
          </a:xfrm>
        </p:grpSpPr>
        <p:pic>
          <p:nvPicPr>
            <p:cNvPr id="58" name="" descr=""/>
            <p:cNvPicPr/>
            <p:nvPr/>
          </p:nvPicPr>
          <p:blipFill>
            <a:blip r:embed="rId2"/>
            <a:srcRect l="0" t="0" r="24062" b="0"/>
            <a:stretch/>
          </p:blipFill>
          <p:spPr>
            <a:xfrm>
              <a:off x="5257800" y="2207160"/>
              <a:ext cx="4343040" cy="2665440"/>
            </a:xfrm>
            <a:prstGeom prst="rect">
              <a:avLst/>
            </a:prstGeom>
            <a:noFill/>
            <a:ln w="73080">
              <a:noFill/>
            </a:ln>
          </p:spPr>
        </p:pic>
        <p:sp>
          <p:nvSpPr>
            <p:cNvPr id="59" name=""/>
            <p:cNvSpPr/>
            <p:nvPr/>
          </p:nvSpPr>
          <p:spPr>
            <a:xfrm>
              <a:off x="6591960" y="3043800"/>
              <a:ext cx="951840" cy="3549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9096120" y="3354480"/>
              <a:ext cx="353160" cy="32904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869440" y="3416760"/>
              <a:ext cx="1492200" cy="23940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2182680" y="9756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SQLiteStudio: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подключение к БД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4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914400" y="2044800"/>
            <a:ext cx="3630960" cy="336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5522040" y="2044800"/>
            <a:ext cx="3599280" cy="336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"/>
          <p:cNvGrpSpPr/>
          <p:nvPr/>
        </p:nvGrpSpPr>
        <p:grpSpPr>
          <a:xfrm>
            <a:off x="667800" y="2238120"/>
            <a:ext cx="4132800" cy="2976480"/>
            <a:chOff x="667800" y="2238120"/>
            <a:chExt cx="4132800" cy="2976480"/>
          </a:xfrm>
        </p:grpSpPr>
        <p:pic>
          <p:nvPicPr>
            <p:cNvPr id="68" name="" descr=""/>
            <p:cNvPicPr/>
            <p:nvPr/>
          </p:nvPicPr>
          <p:blipFill>
            <a:blip r:embed="rId1"/>
            <a:stretch/>
          </p:blipFill>
          <p:spPr>
            <a:xfrm>
              <a:off x="667800" y="2238120"/>
              <a:ext cx="4132800" cy="2976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" name=""/>
            <p:cNvSpPr/>
            <p:nvPr/>
          </p:nvSpPr>
          <p:spPr>
            <a:xfrm>
              <a:off x="2813400" y="2927160"/>
              <a:ext cx="520200" cy="5205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5258520" y="2238120"/>
            <a:ext cx="4223160" cy="2976480"/>
            <a:chOff x="5258520" y="2238120"/>
            <a:chExt cx="4223160" cy="2976480"/>
          </a:xfrm>
        </p:grpSpPr>
        <p:pic>
          <p:nvPicPr>
            <p:cNvPr id="71" name="" descr=""/>
            <p:cNvPicPr/>
            <p:nvPr/>
          </p:nvPicPr>
          <p:blipFill>
            <a:blip r:embed="rId2"/>
            <a:srcRect l="0" t="0" r="30614" b="0"/>
            <a:stretch/>
          </p:blipFill>
          <p:spPr>
            <a:xfrm>
              <a:off x="5258520" y="2238120"/>
              <a:ext cx="4223160" cy="2976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2" name=""/>
            <p:cNvSpPr/>
            <p:nvPr/>
          </p:nvSpPr>
          <p:spPr>
            <a:xfrm>
              <a:off x="7220160" y="2871720"/>
              <a:ext cx="520560" cy="52020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4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183040" y="9792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SQLiteStudi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o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создание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таблицы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7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143000" y="2030400"/>
            <a:ext cx="3429000" cy="337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5693400" y="2030040"/>
            <a:ext cx="3450600" cy="336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2183400" y="9828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SQLiteSt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udio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создание 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столбца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2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182320" y="97200"/>
            <a:ext cx="5718600" cy="11574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SQLiteStudio</a:t>
            </a:r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: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сохранение изменений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grpSp>
        <p:nvGrpSpPr>
          <p:cNvPr id="84" name=""/>
          <p:cNvGrpSpPr/>
          <p:nvPr/>
        </p:nvGrpSpPr>
        <p:grpSpPr>
          <a:xfrm>
            <a:off x="667800" y="2286000"/>
            <a:ext cx="4132800" cy="2434680"/>
            <a:chOff x="667800" y="2286000"/>
            <a:chExt cx="4132800" cy="2434680"/>
          </a:xfrm>
        </p:grpSpPr>
        <p:pic>
          <p:nvPicPr>
            <p:cNvPr id="85" name="" descr=""/>
            <p:cNvPicPr/>
            <p:nvPr/>
          </p:nvPicPr>
          <p:blipFill>
            <a:blip r:embed="rId1"/>
            <a:srcRect l="0" t="0" r="35272" b="0"/>
            <a:stretch/>
          </p:blipFill>
          <p:spPr>
            <a:xfrm>
              <a:off x="667800" y="2286000"/>
              <a:ext cx="4132800" cy="243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" name=""/>
            <p:cNvSpPr/>
            <p:nvPr/>
          </p:nvSpPr>
          <p:spPr>
            <a:xfrm>
              <a:off x="2109240" y="3116520"/>
              <a:ext cx="291600" cy="2919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grpSp>
        <p:nvGrpSpPr>
          <p:cNvPr id="87" name=""/>
          <p:cNvGrpSpPr/>
          <p:nvPr/>
        </p:nvGrpSpPr>
        <p:grpSpPr>
          <a:xfrm>
            <a:off x="5051520" y="2291400"/>
            <a:ext cx="4549680" cy="2429280"/>
            <a:chOff x="5051520" y="2291400"/>
            <a:chExt cx="4549680" cy="2429280"/>
          </a:xfrm>
        </p:grpSpPr>
        <p:pic>
          <p:nvPicPr>
            <p:cNvPr id="88" name="" descr=""/>
            <p:cNvPicPr/>
            <p:nvPr/>
          </p:nvPicPr>
          <p:blipFill>
            <a:blip r:embed="rId2"/>
            <a:srcRect l="0" t="0" r="51843" b="0"/>
            <a:stretch/>
          </p:blipFill>
          <p:spPr>
            <a:xfrm>
              <a:off x="5051520" y="2291400"/>
              <a:ext cx="4549680" cy="242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" name=""/>
            <p:cNvSpPr/>
            <p:nvPr/>
          </p:nvSpPr>
          <p:spPr>
            <a:xfrm>
              <a:off x="6651000" y="3211560"/>
              <a:ext cx="291600" cy="291960"/>
            </a:xfrm>
            <a:prstGeom prst="rect">
              <a:avLst/>
            </a:prstGeom>
            <a:noFill/>
            <a:ln w="73080">
              <a:solidFill>
                <a:srgbClr val="ffdd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  <p:sp>
        <p:nvSpPr>
          <p:cNvPr id="90" name=""/>
          <p:cNvSpPr/>
          <p:nvPr/>
        </p:nvSpPr>
        <p:spPr>
          <a:xfrm>
            <a:off x="0" y="5189400"/>
            <a:ext cx="100807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во вкладке </a:t>
            </a: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Data (Данные)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 можно вручную указать </a:t>
            </a: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записи (строки) БД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 и сохранить их</a:t>
            </a:r>
            <a:endParaRPr b="0" lang="en-US" sz="1800" strike="noStrike" u="none">
              <a:solidFill>
                <a:srgbClr val="eeeeee"/>
              </a:solidFill>
              <a:effectLst/>
              <a:uFill>
                <a:solidFill>
                  <a:srgbClr val="ffdd33"/>
                </a:solidFill>
              </a:u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298560" y="1105200"/>
            <a:ext cx="20466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русский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2" name=""/>
          <p:cNvSpPr/>
          <p:nvPr/>
        </p:nvSpPr>
        <p:spPr>
          <a:xfrm>
            <a:off x="1267560" y="1331640"/>
            <a:ext cx="292464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3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английский</a:t>
            </a:r>
            <a:endParaRPr b="0" lang="en-US" sz="3200" strike="noStrike" u="none">
              <a:solidFill>
                <a:srgbClr val="eeeeee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rcRect l="10114" t="0" r="0" b="47924"/>
          <a:stretch/>
        </p:blipFill>
        <p:spPr>
          <a:xfrm>
            <a:off x="842400" y="1977480"/>
            <a:ext cx="3784680" cy="31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rcRect l="9537" t="0" r="0" b="40897"/>
          <a:stretch/>
        </p:blipFill>
        <p:spPr>
          <a:xfrm>
            <a:off x="5139360" y="1977480"/>
            <a:ext cx="4461840" cy="31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1095120" y="3295440"/>
            <a:ext cx="1781280" cy="219240"/>
          </a:xfrm>
          <a:prstGeom prst="rect">
            <a:avLst/>
          </a:prstGeom>
          <a:noFill/>
          <a:ln w="73080">
            <a:solidFill>
              <a:srgbClr val="ffdd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"/>
          <p:cNvSpPr/>
          <p:nvPr/>
        </p:nvSpPr>
        <p:spPr>
          <a:xfrm>
            <a:off x="5377680" y="3089160"/>
            <a:ext cx="2071080" cy="192960"/>
          </a:xfrm>
          <a:prstGeom prst="rect">
            <a:avLst/>
          </a:prstGeom>
          <a:noFill/>
          <a:ln w="73080">
            <a:solidFill>
              <a:srgbClr val="ffdd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"/>
          <p:cNvSpPr/>
          <p:nvPr/>
        </p:nvSpPr>
        <p:spPr>
          <a:xfrm>
            <a:off x="0" y="5189400"/>
            <a:ext cx="100807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sqlite.c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 в </a:t>
            </a: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Source Files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, </a:t>
            </a: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sqlite.h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 в </a:t>
            </a:r>
            <a:r>
              <a:rPr b="0" lang="ru-RU" sz="18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Header Files</a:t>
            </a:r>
            <a:r>
              <a:rPr b="0" lang="ru-RU" sz="1800" strike="noStrike" u="none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 (нажать правой кнопкой мыши на соотв. папку)</a:t>
            </a:r>
            <a:endParaRPr b="0" lang="en-US" sz="1800" strike="noStrike" u="none">
              <a:solidFill>
                <a:srgbClr val="eeeeee"/>
              </a:solidFill>
              <a:effectLst/>
              <a:uFill>
                <a:solidFill>
                  <a:srgbClr val="ffdd33"/>
                </a:solidFill>
              </a:u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95880" y="352080"/>
            <a:ext cx="8692560" cy="6498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b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Добавление сущ. файлов в проект VS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504000" y="5004000"/>
            <a:ext cx="9071280" cy="6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3200" strike="noStrike" u="sng">
                <a:solidFill>
                  <a:srgbClr val="eeeeee"/>
                </a:solidFill>
                <a:effectLst/>
                <a:uFill>
                  <a:solidFill>
                    <a:srgbClr val="ffdd33"/>
                  </a:solidFill>
                </a:uFill>
                <a:latin typeface="Nimbus Roman"/>
              </a:rPr>
              <a:t>https://github.com/evtish/sqlite-cpp-example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156840" y="1107000"/>
            <a:ext cx="3735000" cy="373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1172160" y="352440"/>
            <a:ext cx="7741800" cy="649800"/>
          </a:xfrm>
          <a:prstGeom prst="rect">
            <a:avLst/>
          </a:prstGeom>
          <a:noFill/>
          <a:ln w="73080">
            <a:noFill/>
          </a:ln>
        </p:spPr>
        <p:txBody>
          <a:bodyPr wrap="none" lIns="90000" rIns="90000" tIns="45000" bIns="45000" anchor="b" anchorCtr="1">
            <a:spAutoFit/>
          </a:bodyPr>
          <a:p>
            <a:pPr algn="ctr"/>
            <a:r>
              <a:rPr b="0" lang="en-US" sz="4200" strike="noStrike" u="none">
                <a:solidFill>
                  <a:srgbClr val="eeeeee"/>
                </a:solidFill>
                <a:effectLst/>
                <a:uFillTx/>
                <a:latin typeface="Nimbus Roman"/>
              </a:rPr>
              <a:t>Репозиторий с кодом и ссылками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2026-01-15T08:35:24Z</dcterms:created>
  <dc:creator/>
  <dc:description/>
  <dc:language>en-GB</dc:language>
  <cp:lastModifiedBy/>
  <dcterms:modified xsi:type="dcterms:W3CDTF">2026-01-29T03:57:36Z</dcterms:modified>
  <cp:revision>47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